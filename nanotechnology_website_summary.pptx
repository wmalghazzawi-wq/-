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ملخص الموقع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5200">
                <a:solidFill>
                  <a:srgbClr val="00F7FF"/>
                </a:solidFill>
                <a:latin typeface="Arial"/>
              </a:defRPr>
            </a:pPr>
            <a:r>
              <a:t>عالم النانو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146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E8F4FD"/>
                </a:solidFill>
                <a:latin typeface="Arial"/>
              </a:defRPr>
            </a:pPr>
            <a:r>
              <a:t>ملخص شامل لمحتوى الموقع، أقسامه التعليمية، ونظام التنبؤ الذكي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79476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2000">
                <a:solidFill>
                  <a:srgbClr val="8BA3CC"/>
                </a:solidFill>
                <a:latin typeface="Arial"/>
              </a:defRPr>
            </a:pPr>
            <a:r>
              <a:t>• المواد النانوية</a:t>
            </a:r>
          </a:p>
          <a:p>
            <a:pPr algn="r">
              <a:defRPr sz="2000">
                <a:solidFill>
                  <a:srgbClr val="8BA3CC"/>
                </a:solidFill>
                <a:latin typeface="Arial"/>
              </a:defRPr>
            </a:pPr>
            <a:r>
              <a:t>• التطبيقات</a:t>
            </a:r>
          </a:p>
          <a:p>
            <a:pPr algn="r">
              <a:defRPr sz="2000">
                <a:solidFill>
                  <a:srgbClr val="8BA3CC"/>
                </a:solidFill>
                <a:latin typeface="Arial"/>
              </a:defRPr>
            </a:pPr>
            <a:r>
              <a:t>• التنبؤ بالصور</a:t>
            </a:r>
          </a:p>
          <a:p>
            <a:pPr algn="r">
              <a:defRPr sz="2000">
                <a:solidFill>
                  <a:srgbClr val="8BA3CC"/>
                </a:solidFill>
                <a:latin typeface="Arial"/>
              </a:defRPr>
            </a:pPr>
            <a:r>
              <a:t>• تحليل XRD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الهوية البصرية: نفس خلفية وألوان الموقع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الرؤية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3600">
                <a:solidFill>
                  <a:srgbClr val="00F7FF"/>
                </a:solidFill>
                <a:latin typeface="Arial"/>
              </a:defRPr>
            </a:pPr>
            <a:r>
              <a:t>فكرة الموقع ومحتواه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300">
                <a:solidFill>
                  <a:srgbClr val="E8F4FD"/>
                </a:solidFill>
                <a:latin typeface="Arial"/>
              </a:defRPr>
            </a:pPr>
            <a:r>
              <a:t>• منصة عربية تعليمية بعنوان عالم النانو لعرض أساسيات تقنية النانو.</a:t>
            </a:r>
          </a:p>
          <a:p>
            <a:pPr algn="r">
              <a:defRPr sz="2100">
                <a:solidFill>
                  <a:srgbClr val="E8F4FD"/>
                </a:solidFill>
                <a:latin typeface="Arial"/>
              </a:defRPr>
            </a:pPr>
            <a:r>
              <a:t>• تشرح المفاهيم من 1 إلى 100 نانومتر بلغة مبسطة ومدعومة بصريًا.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تضم أقسامًا رئيسية: المواد النانوية، التطبيقات، وحول المشروع.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تعرض حقائق علمية سريعة وروابط تنقل واضحة بين الصفحات.</a:t>
            </a:r>
          </a:p>
        </p:txBody>
      </p:sp>
      <p:sp>
        <p:nvSpPr>
          <p:cNvPr id="8" name="Donut 7"/>
          <p:cNvSpPr/>
          <p:nvPr/>
        </p:nvSpPr>
        <p:spPr>
          <a:xfrm>
            <a:off x="274320" y="1965960"/>
            <a:ext cx="365760" cy="365760"/>
          </a:xfrm>
          <a:prstGeom prst="donu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موقع عالم النانو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المواد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3600">
                <a:solidFill>
                  <a:srgbClr val="3B82F6"/>
                </a:solidFill>
                <a:latin typeface="Arial"/>
              </a:defRPr>
            </a:pPr>
            <a:r>
              <a:t>أبرز المواد النانوية في الموقع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300">
                <a:solidFill>
                  <a:srgbClr val="E8F4FD"/>
                </a:solidFill>
                <a:latin typeface="Arial"/>
              </a:defRPr>
            </a:pPr>
            <a:r>
              <a:t>• أنابيب الكربون النانوية، أكاسيد المعادن، الجرافين، النقاط الكمومية.</a:t>
            </a:r>
          </a:p>
          <a:p>
            <a:pPr algn="r">
              <a:defRPr sz="2100">
                <a:solidFill>
                  <a:srgbClr val="E8F4FD"/>
                </a:solidFill>
                <a:latin typeface="Arial"/>
              </a:defRPr>
            </a:pPr>
            <a:r>
              <a:t>• يشمل أيضًا الدندريمرات والأسلاك النانوية مع استخدامات كل نوع.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أكسيد الزنك ZnO وأكسيد النيكل NiO ضمن سياق التحليل والتصنيف.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تنظيم المحتوى بشكل بطاقات يسهل المقارنة والفهم.</a:t>
            </a:r>
          </a:p>
        </p:txBody>
      </p:sp>
      <p:sp>
        <p:nvSpPr>
          <p:cNvPr id="8" name="Donut 7"/>
          <p:cNvSpPr/>
          <p:nvPr/>
        </p:nvSpPr>
        <p:spPr>
          <a:xfrm>
            <a:off x="274320" y="1965960"/>
            <a:ext cx="365760" cy="365760"/>
          </a:xfrm>
          <a:prstGeom prst="donu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موقع عالم النانو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التطبيقات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3600">
                <a:solidFill>
                  <a:srgbClr val="FF6B35"/>
                </a:solidFill>
                <a:latin typeface="Arial"/>
              </a:defRPr>
            </a:pPr>
            <a:r>
              <a:t>تطبيقات تقنية النانو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300">
                <a:solidFill>
                  <a:srgbClr val="E8F4FD"/>
                </a:solidFill>
                <a:latin typeface="Arial"/>
              </a:defRPr>
            </a:pPr>
            <a:r>
              <a:t>• الطب والرعاية الصحية: توصيل دوائي، استشعار حيوي، وتحسين التشخيص.</a:t>
            </a:r>
          </a:p>
          <a:p>
            <a:pPr algn="r">
              <a:defRPr sz="2100">
                <a:solidFill>
                  <a:srgbClr val="E8F4FD"/>
                </a:solidFill>
                <a:latin typeface="Arial"/>
              </a:defRPr>
            </a:pPr>
            <a:r>
              <a:t>• الطاقة والبيئة: معالجة المياه وتحسين أداء الخلايا الشمسية.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الإلكترونيات والحوسبة: مواد متقدمة لترانزستورات الجيل القادم.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المواد والطلاءات: أسطح مضادة للبكتيريا وطلاءات ذاتية التنظيف.</a:t>
            </a:r>
          </a:p>
        </p:txBody>
      </p:sp>
      <p:sp>
        <p:nvSpPr>
          <p:cNvPr id="8" name="Donut 7"/>
          <p:cNvSpPr/>
          <p:nvPr/>
        </p:nvSpPr>
        <p:spPr>
          <a:xfrm>
            <a:off x="274320" y="1965960"/>
            <a:ext cx="365760" cy="365760"/>
          </a:xfrm>
          <a:prstGeom prst="donu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موقع عالم النانو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الذكاء الاصطناعي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3600">
                <a:solidFill>
                  <a:srgbClr val="00F7FF"/>
                </a:solidFill>
                <a:latin typeface="Arial"/>
              </a:defRPr>
            </a:pPr>
            <a:r>
              <a:t>نظام التنبؤ الذكي بالصور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300">
                <a:solidFill>
                  <a:srgbClr val="E8F4FD"/>
                </a:solidFill>
                <a:latin typeface="Arial"/>
              </a:defRPr>
            </a:pPr>
            <a:r>
              <a:t>• رفع صورة العينة ثم الضغط على زر ابدأ التنبؤ لإظهار الفئة المتوقعة.</a:t>
            </a:r>
          </a:p>
          <a:p>
            <a:pPr algn="r">
              <a:defRPr sz="2100">
                <a:solidFill>
                  <a:srgbClr val="E8F4FD"/>
                </a:solidFill>
                <a:latin typeface="Arial"/>
              </a:defRPr>
            </a:pPr>
            <a:r>
              <a:t>• النظام يعرض نوع العينة مع نسبة الثقة وأعلى الاحتمالات البديلة.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يدعم تحليل عينات ZnO وNiO ضمن واجهة تفاعلية مباشرة.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يعتمد على نموذج تعلم عميق مدرب ومربوط بخادم Flask محلي.</a:t>
            </a:r>
          </a:p>
        </p:txBody>
      </p:sp>
      <p:sp>
        <p:nvSpPr>
          <p:cNvPr id="8" name="Donut 7"/>
          <p:cNvSpPr/>
          <p:nvPr/>
        </p:nvSpPr>
        <p:spPr>
          <a:xfrm>
            <a:off x="274320" y="1965960"/>
            <a:ext cx="365760" cy="365760"/>
          </a:xfrm>
          <a:prstGeom prst="donu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موقع عالم النانو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XRD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3600">
                <a:solidFill>
                  <a:srgbClr val="3B82F6"/>
                </a:solidFill>
                <a:latin typeface="Arial"/>
              </a:defRPr>
            </a:pPr>
            <a:r>
              <a:t>أهمية XRD في تحليل العينات النانوية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300">
                <a:solidFill>
                  <a:srgbClr val="E8F4FD"/>
                </a:solidFill>
                <a:latin typeface="Arial"/>
              </a:defRPr>
            </a:pPr>
            <a:r>
              <a:t>• XRD يحدد البنية البلورية ويميز الأطوار بدقة علمية عالية.</a:t>
            </a:r>
          </a:p>
          <a:p>
            <a:pPr algn="r">
              <a:defRPr sz="2100">
                <a:solidFill>
                  <a:srgbClr val="E8F4FD"/>
                </a:solidFill>
                <a:latin typeface="Arial"/>
              </a:defRPr>
            </a:pPr>
            <a:r>
              <a:t>• يُستخدم لتقدير حجم البلورات النانوية من قمم وأنماط الحيود.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يساعد على ربط خصائص المادة بالأداء الوظيفي في التطبيقات.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دمج XRD مع الذكاء الاصطناعي يسرّع التصنيف ويقلل الخطأ البشري.</a:t>
            </a:r>
          </a:p>
        </p:txBody>
      </p:sp>
      <p:sp>
        <p:nvSpPr>
          <p:cNvPr id="8" name="Donut 7"/>
          <p:cNvSpPr/>
          <p:nvPr/>
        </p:nvSpPr>
        <p:spPr>
          <a:xfrm>
            <a:off x="274320" y="1965960"/>
            <a:ext cx="365760" cy="365760"/>
          </a:xfrm>
          <a:prstGeom prst="donu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موقع عالم النانو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291840" cy="3291840"/>
          </a:xfrm>
          <a:prstGeom prst="ellipse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438912"/>
            <a:ext cx="2240280" cy="438912"/>
          </a:xfrm>
          <a:prstGeom prst="round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0000"/>
                </a:solidFill>
                <a:latin typeface="Arial"/>
              </a:defRPr>
            </a:pPr>
            <a:r>
              <a:t>الخلاصة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3600">
                <a:solidFill>
                  <a:srgbClr val="00F7FF"/>
                </a:solidFill>
                <a:latin typeface="Arial"/>
              </a:defRPr>
            </a:pPr>
            <a:r>
              <a:t>خلاصة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2300">
                <a:solidFill>
                  <a:srgbClr val="E8F4FD"/>
                </a:solidFill>
                <a:latin typeface="Arial"/>
              </a:defRPr>
            </a:pPr>
            <a:r>
              <a:t>• الموقع يجمع بين الشرح العلمي والواجهة التفاعلية في منصة واحدة.</a:t>
            </a:r>
          </a:p>
          <a:p>
            <a:pPr algn="r">
              <a:defRPr sz="2100">
                <a:solidFill>
                  <a:srgbClr val="E8F4FD"/>
                </a:solidFill>
                <a:latin typeface="Arial"/>
              </a:defRPr>
            </a:pPr>
            <a:r>
              <a:t>• الهوية البصرية في العرض مطابقة لألوان وخلفية الموقع.</a:t>
            </a:r>
          </a:p>
          <a:p>
            <a:pPr algn="r">
              <a:defRPr sz="2100">
                <a:solidFill>
                  <a:srgbClr val="8BA3CC"/>
                </a:solidFill>
                <a:latin typeface="Arial"/>
              </a:defRPr>
            </a:pPr>
            <a:r>
              <a:t>• يمكن توسيع العرض لاحقًا بإضافة نتائج النموذج والرسوم البيانية.</a:t>
            </a:r>
          </a:p>
        </p:txBody>
      </p:sp>
      <p:sp>
        <p:nvSpPr>
          <p:cNvPr id="8" name="Donut 7"/>
          <p:cNvSpPr/>
          <p:nvPr/>
        </p:nvSpPr>
        <p:spPr>
          <a:xfrm>
            <a:off x="274320" y="1965960"/>
            <a:ext cx="365760" cy="365760"/>
          </a:xfrm>
          <a:prstGeom prst="donu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A3CC"/>
                </a:solidFill>
                <a:latin typeface="Arial"/>
              </a:defRPr>
            </a:pPr>
            <a:r>
              <a:t>موقع عالم النانو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